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6751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AFCFF"/>
                </a:solidFill>
                <a:latin typeface="Aptos"/>
              </a:rPr>
              <a:t>REGRESIÓN
LINEAL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2DB1BE"/>
                </a:solidFill>
                <a:latin typeface="Aptos"/>
              </a:rPr>
              <a:t>De los datos a una predicción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8138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AFCFF"/>
                </a:solidFill>
                <a:latin typeface="Aptos"/>
              </a:rPr>
              <a:t>Ejemplo: edad del paciente → días de estancia en observación después de una operación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234440"/>
            <a:ext cx="2468880" cy="4297680"/>
          </a:xfrm>
          <a:prstGeom prst="roundRect">
            <a:avLst/>
          </a:prstGeom>
          <a:solidFill>
            <a:srgbClr val="26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0" y="1828800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FAFCFF"/>
                </a:solidFill>
                <a:latin typeface="Aptos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251460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AFCFF"/>
                </a:solidFill>
                <a:latin typeface="Aptos"/>
              </a:rPr>
              <a:t>EDAD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306324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AFCFF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703320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FAFCFF"/>
                </a:solidFill>
                <a:latin typeface="Aptos"/>
              </a:rPr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389120"/>
            <a:ext cx="1371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AFCFF"/>
                </a:solidFill>
                <a:latin typeface="Aptos"/>
              </a:rPr>
              <a:t>DÍAS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DE1"/>
                </a:solidFill>
                <a:latin typeface="Aptos"/>
              </a:rPr>
              <a:t>Basado en el procedimiento del archivo Excel proporcionado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1. ¿Qué queremos resolver?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10835640" cy="352044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66EB4"/>
                </a:solidFill>
                <a:latin typeface="Aptos"/>
              </a:rPr>
              <a:t>PREGUNTA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98755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¿Podemos estimar cuántos días permanecerá
en observación a partir de su edad?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5B697A"/>
                </a:solidFill>
                <a:latin typeface="Aptos"/>
              </a:rPr>
              <a:t>Para hacerlo, construiremos una recta usando exactamente el procedimiento de sumatorias del Excel.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2. Datos iniciales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B697A"/>
                </a:solidFill>
                <a:latin typeface="Aptos"/>
              </a:rPr>
              <a:t>Los mismos datos utilizados en la hoja DATOS del Excel.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417320"/>
          <a:ext cx="99212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AFC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54864" marR="54864">
                    <a:solidFill>
                      <a:srgbClr val="122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AFCFF"/>
                          </a:solidFill>
                          <a:latin typeface="Aptos"/>
                        </a:rPr>
                        <a:t>Edad (x)</a:t>
                      </a:r>
                    </a:p>
                  </a:txBody>
                  <a:tcPr marL="54864" marR="54864">
                    <a:solidFill>
                      <a:srgbClr val="122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AFCFF"/>
                          </a:solidFill>
                          <a:latin typeface="Aptos"/>
                        </a:rPr>
                        <a:t>Estancia (Y)</a:t>
                      </a:r>
                    </a:p>
                  </a:txBody>
                  <a:tcPr marL="54864" marR="54864">
                    <a:solidFill>
                      <a:srgbClr val="122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AFCFF"/>
                          </a:solidFill>
                          <a:latin typeface="Aptos"/>
                        </a:rPr>
                        <a:t>Xi × Yi</a:t>
                      </a:r>
                    </a:p>
                  </a:txBody>
                  <a:tcPr marL="54864" marR="54864">
                    <a:solidFill>
                      <a:srgbClr val="122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AFCFF"/>
                          </a:solidFill>
                          <a:latin typeface="Aptos"/>
                        </a:rPr>
                        <a:t>X²</a:t>
                      </a:r>
                    </a:p>
                  </a:txBody>
                  <a:tcPr marL="54864" marR="54864">
                    <a:solidFill>
                      <a:srgbClr val="122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2.6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26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3.1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46.5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225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4.0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80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400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4.3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107.5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625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5.4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162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900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6.1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213.5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1225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2937"/>
                          </a:solidFill>
                          <a:latin typeface="Aptos"/>
                        </a:rPr>
                        <a:t>Σ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135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25.5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635.5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2937"/>
                          </a:solidFill>
                          <a:latin typeface="Aptos"/>
                        </a:rPr>
                        <a:t>3475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34440" y="5989320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66EB4"/>
                </a:solidFill>
                <a:latin typeface="Aptos"/>
              </a:rPr>
              <a:t>Σx = 135     Σy = 25.5     n =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3. ¿Qué es la regresión lineal simple?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25196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4805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037"/>
                </a:solidFill>
                <a:latin typeface="Aptos"/>
              </a:rPr>
              <a:t>Una técnica para modelar
la relación entre dos variables.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44805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Aptos"/>
              </a:rPr>
              <a:t>• x: variable independiente
• y: variable que queremos predecir
• La relación se representa con una recta
• El modelo permite estimar nuevos valores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983480" cy="4251960"/>
          </a:xfrm>
          <a:prstGeom prst="round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82880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DB1BE"/>
                </a:solidFill>
                <a:latin typeface="Aptos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423160"/>
            <a:ext cx="4114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AFCFF"/>
                </a:solidFill>
                <a:latin typeface="Aptos"/>
              </a:rPr>
              <a:t>ŷ = b · x +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429000"/>
            <a:ext cx="3749039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FAFCFF"/>
                </a:solidFill>
                <a:latin typeface="Aptos"/>
              </a:rPr>
              <a:t>ŷ = valor predicho
b = pendiente
x = edad
a = intercepto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4. Identificamos las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074920" cy="420624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82880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266EB4"/>
                </a:solidFill>
                <a:latin typeface="Aptos"/>
              </a:rPr>
              <a:t>x = 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Variable independiente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337560"/>
            <a:ext cx="42062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22037"/>
                </a:solidFill>
                <a:latin typeface="Aptos"/>
              </a:rPr>
              <a:t>Para el paciente a predecir:
x = 33 años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74920" cy="420624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279770"/>
                </a:solidFill>
                <a:latin typeface="Aptos"/>
              </a:rPr>
              <a:t>y = ESTANCIA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5176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Variable respuesta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337560"/>
            <a:ext cx="42062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22037"/>
                </a:solidFill>
                <a:latin typeface="Aptos"/>
              </a:rPr>
              <a:t>Valores observados:
2.6, 3.1, 4.0, 4.3, 5.4, 6.1 días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5. La pendiente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B697A"/>
                </a:solidFill>
                <a:latin typeface="Aptos"/>
              </a:rPr>
              <a:t>Tu Excel utiliza la fórmula de pendiente basada en sumatorias.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4434840"/>
          </a:xfrm>
          <a:prstGeom prst="round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DB1BE"/>
                </a:solidFill>
                <a:latin typeface="Aptos"/>
              </a:rPr>
              <a:t>b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37360"/>
            <a:ext cx="841248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AFCFF"/>
                </a:solidFill>
                <a:latin typeface="Aptos"/>
              </a:rPr>
              <a:t>n · Σxy − (Σx)(Σy)
────────────────────────
n · Σx² − (Σx)²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18754"/>
            <a:ext cx="98755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b="1" dirty="0">
                <a:solidFill>
                  <a:srgbClr val="2DB1BE"/>
                </a:solidFill>
                <a:latin typeface="Aptos"/>
              </a:rPr>
              <a:t>F</a:t>
            </a:r>
            <a:r>
              <a:rPr sz="1800" b="1" dirty="0" err="1">
                <a:solidFill>
                  <a:srgbClr val="2DB1BE"/>
                </a:solidFill>
                <a:latin typeface="Aptos"/>
              </a:rPr>
              <a:t>órmula</a:t>
            </a:r>
            <a:r>
              <a:rPr sz="1800" b="1" dirty="0">
                <a:solidFill>
                  <a:srgbClr val="2DB1BE"/>
                </a:solidFill>
                <a:latin typeface="Aptos"/>
              </a:rPr>
              <a:t> </a:t>
            </a:r>
            <a:r>
              <a:rPr lang="es-ES" b="1" dirty="0">
                <a:solidFill>
                  <a:srgbClr val="2DB1BE"/>
                </a:solidFill>
                <a:latin typeface="Aptos"/>
              </a:rPr>
              <a:t>para calcular la pendiente</a:t>
            </a:r>
            <a:r>
              <a:rPr sz="1800" b="1" dirty="0">
                <a:solidFill>
                  <a:srgbClr val="2DB1BE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6. Valores que alimentan la fórmula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1417320"/>
          <a:ext cx="66751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AFCFF"/>
                          </a:solidFill>
                          <a:latin typeface="Aptos"/>
                        </a:rPr>
                        <a:t>Cantidad</a:t>
                      </a:r>
                    </a:p>
                  </a:txBody>
                  <a:tcPr marL="54864" marR="54864">
                    <a:solidFill>
                      <a:srgbClr val="122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AFCFF"/>
                          </a:solidFill>
                          <a:latin typeface="Aptos"/>
                        </a:rPr>
                        <a:t>Valor</a:t>
                      </a:r>
                    </a:p>
                  </a:txBody>
                  <a:tcPr marL="54864" marR="54864">
                    <a:solidFill>
                      <a:srgbClr val="1220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2937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2937"/>
                          </a:solidFill>
                          <a:latin typeface="Aptos"/>
                        </a:rPr>
                        <a:t>Σx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135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2937"/>
                          </a:solidFill>
                          <a:latin typeface="Aptos"/>
                        </a:rPr>
                        <a:t>Σy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25.5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2937"/>
                          </a:solidFill>
                          <a:latin typeface="Aptos"/>
                        </a:rPr>
                        <a:t>Σxy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635.5</a:t>
                      </a:r>
                    </a:p>
                  </a:txBody>
                  <a:tcPr marL="54864" marR="54864"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2100" b="1" dirty="0">
                          <a:solidFill>
                            <a:srgbClr val="1F2937"/>
                          </a:solidFill>
                          <a:latin typeface="Aptos"/>
                        </a:rPr>
                        <a:t>Σx²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dirty="0">
                          <a:solidFill>
                            <a:srgbClr val="1F2937"/>
                          </a:solidFill>
                          <a:latin typeface="Aptos"/>
                        </a:rPr>
                        <a:t>3475</a:t>
                      </a:r>
                    </a:p>
                  </a:txBody>
                  <a:tcPr marL="54864" marR="54864"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b="1" dirty="0">
                <a:solidFill>
                  <a:srgbClr val="5B697A"/>
                </a:solidFill>
                <a:latin typeface="Aptos"/>
              </a:rPr>
              <a:t>Resumen de las sumatorias de los </a:t>
            </a:r>
            <a:r>
              <a:rPr sz="1800" b="1" dirty="0">
                <a:solidFill>
                  <a:srgbClr val="5B697A"/>
                </a:solidFill>
                <a:latin typeface="Aptos"/>
              </a:rPr>
              <a:t>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7. Cálculo del numerador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438912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856675"/>
            <a:ext cx="987552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 dirty="0">
                <a:solidFill>
                  <a:srgbClr val="122037"/>
                </a:solidFill>
                <a:latin typeface="Aptos"/>
              </a:rPr>
              <a:t>Num = n</a:t>
            </a:r>
            <a:r>
              <a:rPr lang="es-ES" sz="2900" b="1" dirty="0">
                <a:solidFill>
                  <a:srgbClr val="122037"/>
                </a:solidFill>
                <a:latin typeface="Aptos"/>
              </a:rPr>
              <a:t> </a:t>
            </a:r>
            <a:r>
              <a:rPr sz="2900" b="1" dirty="0">
                <a:solidFill>
                  <a:srgbClr val="122037"/>
                </a:solidFill>
                <a:latin typeface="Aptos"/>
              </a:rPr>
              <a:t>·</a:t>
            </a:r>
            <a:r>
              <a:rPr lang="es-ES" sz="2900" b="1" dirty="0">
                <a:solidFill>
                  <a:srgbClr val="122037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122037"/>
                </a:solidFill>
                <a:latin typeface="Aptos"/>
              </a:rPr>
              <a:t>Σxy</a:t>
            </a:r>
            <a:r>
              <a:rPr sz="2900" b="1" dirty="0">
                <a:solidFill>
                  <a:srgbClr val="122037"/>
                </a:solidFill>
                <a:latin typeface="Aptos"/>
              </a:rPr>
              <a:t> − </a:t>
            </a:r>
            <a:r>
              <a:rPr sz="2900" b="1" dirty="0" err="1">
                <a:solidFill>
                  <a:srgbClr val="122037"/>
                </a:solidFill>
                <a:latin typeface="Aptos"/>
              </a:rPr>
              <a:t>Σx</a:t>
            </a:r>
            <a:r>
              <a:rPr lang="es-ES" sz="2900" b="1" dirty="0">
                <a:solidFill>
                  <a:srgbClr val="122037"/>
                </a:solidFill>
                <a:latin typeface="Aptos"/>
              </a:rPr>
              <a:t> </a:t>
            </a:r>
            <a:r>
              <a:rPr sz="2900" b="1" dirty="0">
                <a:solidFill>
                  <a:srgbClr val="122037"/>
                </a:solidFill>
                <a:latin typeface="Aptos"/>
              </a:rPr>
              <a:t>·</a:t>
            </a:r>
            <a:r>
              <a:rPr lang="es-ES" sz="2900" b="1" dirty="0">
                <a:solidFill>
                  <a:srgbClr val="122037"/>
                </a:solidFill>
                <a:latin typeface="Aptos"/>
              </a:rPr>
              <a:t> </a:t>
            </a:r>
            <a:r>
              <a:rPr sz="2900" b="1" dirty="0" err="1">
                <a:solidFill>
                  <a:srgbClr val="122037"/>
                </a:solidFill>
                <a:latin typeface="Aptos"/>
              </a:rPr>
              <a:t>Σy</a:t>
            </a:r>
            <a:endParaRPr sz="2900" b="1" dirty="0">
              <a:solidFill>
                <a:srgbClr val="12203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6EB4"/>
                </a:solidFill>
                <a:latin typeface="Aptos"/>
              </a:rPr>
              <a:t>= 6 × 635.5 − 135 × 25.5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7472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F2937"/>
                </a:solidFill>
                <a:latin typeface="Aptos"/>
              </a:rPr>
              <a:t>= 3813 − 3442.5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5196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279770"/>
                </a:solidFill>
                <a:latin typeface="Aptos"/>
              </a:rPr>
              <a:t>= 370.5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8. Cálculo del denominador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438912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856675"/>
            <a:ext cx="987552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 dirty="0">
                <a:solidFill>
                  <a:srgbClr val="122037"/>
                </a:solidFill>
                <a:latin typeface="Aptos"/>
              </a:rPr>
              <a:t>Den = n</a:t>
            </a:r>
            <a:r>
              <a:rPr lang="es-ES" sz="2900" b="1" dirty="0">
                <a:solidFill>
                  <a:srgbClr val="122037"/>
                </a:solidFill>
                <a:latin typeface="Aptos"/>
              </a:rPr>
              <a:t> </a:t>
            </a:r>
            <a:r>
              <a:rPr sz="2900" b="1" dirty="0">
                <a:solidFill>
                  <a:srgbClr val="122037"/>
                </a:solidFill>
                <a:latin typeface="Aptos"/>
              </a:rPr>
              <a:t>·</a:t>
            </a:r>
            <a:r>
              <a:rPr lang="es-ES" sz="2900" b="1" dirty="0">
                <a:solidFill>
                  <a:srgbClr val="122037"/>
                </a:solidFill>
                <a:latin typeface="Aptos"/>
              </a:rPr>
              <a:t> </a:t>
            </a:r>
            <a:r>
              <a:rPr sz="2900" b="1" dirty="0">
                <a:solidFill>
                  <a:srgbClr val="122037"/>
                </a:solidFill>
                <a:latin typeface="Aptos"/>
              </a:rPr>
              <a:t>Σx² − (</a:t>
            </a:r>
            <a:r>
              <a:rPr sz="2900" b="1" dirty="0" err="1">
                <a:solidFill>
                  <a:srgbClr val="122037"/>
                </a:solidFill>
                <a:latin typeface="Aptos"/>
              </a:rPr>
              <a:t>Σx</a:t>
            </a:r>
            <a:r>
              <a:rPr sz="2900" b="1" dirty="0">
                <a:solidFill>
                  <a:srgbClr val="122037"/>
                </a:solidFill>
                <a:latin typeface="Aptos"/>
              </a:rPr>
              <a:t>)²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66EB4"/>
                </a:solidFill>
                <a:latin typeface="Aptos"/>
              </a:rPr>
              <a:t>= 6 × 3475 − 135²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7472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F2937"/>
                </a:solidFill>
                <a:latin typeface="Aptos"/>
              </a:rPr>
              <a:t>= 20850 − 18225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5196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279770"/>
                </a:solidFill>
                <a:latin typeface="Aptos"/>
              </a:rPr>
              <a:t>= 2625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9. Resultado de la pendiente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4434840"/>
          </a:xfrm>
          <a:prstGeom prst="round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DB1BE"/>
                </a:solidFill>
                <a:latin typeface="Aptos"/>
              </a:rPr>
              <a:t>b = Num / 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0604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AFCFF"/>
                </a:solidFill>
                <a:latin typeface="Aptos"/>
              </a:rPr>
              <a:t>b = 370.5 / 2625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9875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AFCFF"/>
                </a:solidFill>
                <a:latin typeface="Aptos"/>
              </a:rPr>
              <a:t>b = 0.141143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89120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DB1BE"/>
                </a:solidFill>
                <a:latin typeface="Aptos"/>
              </a:rPr>
              <a:t>≈ 0.14 días por cada año 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10. Cálculo del intercepto 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61320" cy="443484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741260"/>
            <a:ext cx="987552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dirty="0">
                <a:solidFill>
                  <a:srgbClr val="002060"/>
                </a:solidFill>
                <a:latin typeface="Aptos"/>
              </a:rPr>
              <a:t>a = ȳ − b · x̄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25775"/>
            <a:ext cx="9875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dirty="0">
                <a:solidFill>
                  <a:srgbClr val="1F2937"/>
                </a:solidFill>
                <a:latin typeface="Aptos"/>
              </a:rPr>
              <a:t>x̄ = </a:t>
            </a:r>
            <a:r>
              <a:rPr sz="3600" b="1" dirty="0" err="1">
                <a:solidFill>
                  <a:srgbClr val="1F2937"/>
                </a:solidFill>
                <a:latin typeface="Aptos"/>
              </a:rPr>
              <a:t>Σx</a:t>
            </a:r>
            <a:r>
              <a:rPr sz="3600" b="1" dirty="0">
                <a:solidFill>
                  <a:srgbClr val="1F2937"/>
                </a:solidFill>
                <a:latin typeface="Aptos"/>
              </a:rPr>
              <a:t> / n = 135 / 6 = 22.50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65855"/>
            <a:ext cx="9875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dirty="0">
                <a:solidFill>
                  <a:srgbClr val="1F2937"/>
                </a:solidFill>
                <a:latin typeface="Aptos"/>
              </a:rPr>
              <a:t>ȳ = </a:t>
            </a:r>
            <a:r>
              <a:rPr sz="3600" b="1" dirty="0" err="1">
                <a:solidFill>
                  <a:srgbClr val="1F2937"/>
                </a:solidFill>
                <a:latin typeface="Aptos"/>
              </a:rPr>
              <a:t>Σy</a:t>
            </a:r>
            <a:r>
              <a:rPr sz="3600" b="1" dirty="0">
                <a:solidFill>
                  <a:srgbClr val="1F2937"/>
                </a:solidFill>
                <a:latin typeface="Aptos"/>
              </a:rPr>
              <a:t> / n = 25.5 / 6 = 4.25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0624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279770"/>
                </a:solidFill>
                <a:latin typeface="Aptos"/>
              </a:rPr>
              <a:t>a = 4.25 − (0.141143 × 22.50) = 1.074286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11. Ecuación final del modelo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61320" cy="3520440"/>
          </a:xfrm>
          <a:prstGeom prst="round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9921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AFCFF"/>
                </a:solidFill>
                <a:latin typeface="Aptos"/>
              </a:rPr>
              <a:t>ŷ = 0.141143 · x + 1.074286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58634"/>
            <a:ext cx="992124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b="1" dirty="0">
                <a:solidFill>
                  <a:srgbClr val="2DB1BE"/>
                </a:solidFill>
                <a:latin typeface="Aptos"/>
              </a:rPr>
              <a:t>Datos presentados con dos decimales</a:t>
            </a:r>
            <a:r>
              <a:rPr sz="1800" b="1" dirty="0">
                <a:solidFill>
                  <a:srgbClr val="2DB1BE"/>
                </a:solidFill>
                <a:latin typeface="Aptos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9921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AFCFF"/>
                </a:solidFill>
                <a:latin typeface="Aptos"/>
              </a:rPr>
              <a:t>ŷ ≈ 0,14 · x + 1,07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12. Predicción para x = 33 años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10652760" cy="443484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711375"/>
            <a:ext cx="9875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dirty="0">
                <a:solidFill>
                  <a:srgbClr val="266EB4"/>
                </a:solidFill>
                <a:latin typeface="Aptos"/>
              </a:rPr>
              <a:t>x =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8615"/>
            <a:ext cx="9875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dirty="0">
                <a:solidFill>
                  <a:srgbClr val="122037"/>
                </a:solidFill>
                <a:latin typeface="Aptos"/>
              </a:rPr>
              <a:t>ŷ = 0.141143 × 33 + 1.074286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9875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279770"/>
                </a:solidFill>
                <a:latin typeface="Aptos"/>
              </a:rPr>
              <a:t>ŷ = 5.732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La predicción del modelo es aproximadamente 5,73 días.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22037"/>
                </a:solidFill>
                <a:latin typeface="Aptos"/>
              </a:rPr>
              <a:t>13. Interpretación de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10561320" cy="434340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266EB4"/>
                </a:solidFill>
                <a:latin typeface="Aptos"/>
              </a:rPr>
              <a:t>b = 0.141143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875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22037"/>
                </a:solidFill>
                <a:latin typeface="Aptos"/>
              </a:rPr>
              <a:t>Según este modelo, por cada año adicional de edad,
la estancia estimada aumenta aproximadamente 0.14 días.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31965"/>
            <a:ext cx="98755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5B697A"/>
                </a:solidFill>
                <a:latin typeface="Aptos"/>
              </a:rPr>
              <a:t>Es una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relación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observada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en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estos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datos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; no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demuestra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 por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sí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 sola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causalidad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5B697A"/>
                </a:solidFill>
                <a:latin typeface="Aptos"/>
              </a:rPr>
              <a:t>clínica</a:t>
            </a:r>
            <a:r>
              <a:rPr sz="2000" b="0" dirty="0">
                <a:solidFill>
                  <a:srgbClr val="5B697A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FAFCFF"/>
                </a:solidFill>
                <a:latin typeface="Aptos"/>
              </a:rPr>
              <a:t>REGRESIÓN LINEAL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DB1BE"/>
                </a:solidFill>
                <a:latin typeface="Aptos"/>
              </a:rPr>
              <a:t>De los datos a la predicción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BECDE1"/>
                </a:solidFill>
                <a:latin typeface="Aptos"/>
              </a:rPr>
              <a:t>Autor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AFCFF"/>
                </a:solidFill>
                <a:latin typeface="Aptos"/>
              </a:rPr>
              <a:t>Ingeniero de Sistemas, Ignacio Aular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0">
                <a:solidFill>
                  <a:srgbClr val="FAFCFF"/>
                </a:solidFill>
                <a:latin typeface="Aptos"/>
              </a:rPr>
              <a:t>Bogotá, 03/10/2026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03688"/>
            <a:ext cx="1069848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 err="1">
                <a:solidFill>
                  <a:srgbClr val="2DB1BE"/>
                </a:solidFill>
                <a:latin typeface="Aptos"/>
              </a:rPr>
              <a:t>Ejemplo</a:t>
            </a:r>
            <a:r>
              <a:rPr sz="1700" b="1" dirty="0">
                <a:solidFill>
                  <a:srgbClr val="2DB1BE"/>
                </a:solidFill>
                <a:latin typeface="Aptos"/>
              </a:rPr>
              <a:t> </a:t>
            </a:r>
            <a:r>
              <a:rPr lang="es-ES" sz="1700" b="1" dirty="0">
                <a:solidFill>
                  <a:srgbClr val="2DB1BE"/>
                </a:solidFill>
                <a:latin typeface="Aptos"/>
              </a:rPr>
              <a:t>con fines </a:t>
            </a:r>
            <a:r>
              <a:rPr sz="1700" b="1" dirty="0" err="1">
                <a:solidFill>
                  <a:srgbClr val="2DB1BE"/>
                </a:solidFill>
                <a:latin typeface="Aptos"/>
              </a:rPr>
              <a:t>didáctico</a:t>
            </a:r>
            <a:r>
              <a:rPr lang="es-ES" sz="1700" b="1" dirty="0">
                <a:solidFill>
                  <a:srgbClr val="2DB1BE"/>
                </a:solidFill>
                <a:latin typeface="Aptos"/>
              </a:rPr>
              <a:t>s sobre la</a:t>
            </a:r>
            <a:r>
              <a:rPr sz="1700" b="1" dirty="0">
                <a:solidFill>
                  <a:srgbClr val="2DB1BE"/>
                </a:solidFill>
                <a:latin typeface="Aptos"/>
              </a:rPr>
              <a:t> </a:t>
            </a:r>
            <a:r>
              <a:rPr lang="es-ES" sz="1700" b="1" dirty="0">
                <a:solidFill>
                  <a:srgbClr val="2DB1BE"/>
                </a:solidFill>
                <a:latin typeface="Aptos"/>
              </a:rPr>
              <a:t>R</a:t>
            </a:r>
            <a:r>
              <a:rPr sz="1700" b="1" dirty="0" err="1">
                <a:solidFill>
                  <a:srgbClr val="2DB1BE"/>
                </a:solidFill>
                <a:latin typeface="Aptos"/>
              </a:rPr>
              <a:t>egresión</a:t>
            </a:r>
            <a:r>
              <a:rPr sz="1700" b="1" dirty="0">
                <a:solidFill>
                  <a:srgbClr val="2DB1BE"/>
                </a:solidFill>
                <a:latin typeface="Aptos"/>
              </a:rPr>
              <a:t> </a:t>
            </a:r>
            <a:r>
              <a:rPr lang="es-ES" sz="1700" b="1" dirty="0">
                <a:solidFill>
                  <a:srgbClr val="2DB1BE"/>
                </a:solidFill>
                <a:latin typeface="Aptos"/>
              </a:rPr>
              <a:t>L</a:t>
            </a:r>
            <a:r>
              <a:rPr sz="1700" b="1" dirty="0" err="1">
                <a:solidFill>
                  <a:srgbClr val="2DB1BE"/>
                </a:solidFill>
                <a:latin typeface="Aptos"/>
              </a:rPr>
              <a:t>ineal</a:t>
            </a:r>
            <a:r>
              <a:rPr sz="1700" b="1" dirty="0">
                <a:solidFill>
                  <a:srgbClr val="2DB1BE"/>
                </a:solidFill>
                <a:latin typeface="Aptos"/>
              </a:rPr>
              <a:t> </a:t>
            </a:r>
            <a:r>
              <a:rPr lang="es-ES" sz="1700" b="1">
                <a:solidFill>
                  <a:srgbClr val="2DB1BE"/>
                </a:solidFill>
                <a:latin typeface="Aptos"/>
              </a:rPr>
              <a:t>S</a:t>
            </a:r>
            <a:r>
              <a:rPr sz="1700" b="1">
                <a:solidFill>
                  <a:srgbClr val="2DB1BE"/>
                </a:solidFill>
                <a:latin typeface="Aptos"/>
              </a:rPr>
              <a:t>imple</a:t>
            </a:r>
            <a:endParaRPr sz="1700" b="1" dirty="0">
              <a:solidFill>
                <a:srgbClr val="2DB1B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B697A"/>
                </a:solidFill>
                <a:latin typeface="Aptos"/>
              </a:rPr>
              <a:t>REGRESIÓN LINEAL SIMPLE  •  TUTORIAL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5B697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698</Words>
  <Application>Microsoft Office PowerPoint</Application>
  <PresentationFormat>Panorámica</PresentationFormat>
  <Paragraphs>155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LENOVO</cp:lastModifiedBy>
  <cp:revision>11</cp:revision>
  <dcterms:created xsi:type="dcterms:W3CDTF">2013-01-27T09:14:16Z</dcterms:created>
  <dcterms:modified xsi:type="dcterms:W3CDTF">2026-10-04T14:14:49Z</dcterms:modified>
  <cp:category/>
</cp:coreProperties>
</file>